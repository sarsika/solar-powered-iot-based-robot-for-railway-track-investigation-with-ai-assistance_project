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06" r:id="rId1"/>
  </p:sldMasterIdLst>
  <p:notesMasterIdLst>
    <p:notesMasterId r:id="rId27"/>
  </p:notesMasterIdLst>
  <p:sldIdLst>
    <p:sldId id="256" r:id="rId2"/>
    <p:sldId id="257" r:id="rId3"/>
    <p:sldId id="264" r:id="rId4"/>
    <p:sldId id="265" r:id="rId5"/>
    <p:sldId id="267" r:id="rId6"/>
    <p:sldId id="268" r:id="rId7"/>
    <p:sldId id="282" r:id="rId8"/>
    <p:sldId id="272" r:id="rId9"/>
    <p:sldId id="293" r:id="rId10"/>
    <p:sldId id="283" r:id="rId11"/>
    <p:sldId id="273" r:id="rId12"/>
    <p:sldId id="277" r:id="rId13"/>
    <p:sldId id="284" r:id="rId14"/>
    <p:sldId id="290" r:id="rId15"/>
    <p:sldId id="286" r:id="rId16"/>
    <p:sldId id="287" r:id="rId17"/>
    <p:sldId id="291" r:id="rId18"/>
    <p:sldId id="278" r:id="rId19"/>
    <p:sldId id="292" r:id="rId20"/>
    <p:sldId id="280" r:id="rId21"/>
    <p:sldId id="288" r:id="rId22"/>
    <p:sldId id="289" r:id="rId23"/>
    <p:sldId id="281" r:id="rId24"/>
    <p:sldId id="285" r:id="rId25"/>
    <p:sldId id="259" r:id="rId2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slide" Target="slides/slide17.xml" /><Relationship Id="rId26" Type="http://schemas.openxmlformats.org/officeDocument/2006/relationships/slide" Target="slides/slide25.xml" /><Relationship Id="rId3" Type="http://schemas.openxmlformats.org/officeDocument/2006/relationships/slide" Target="slides/slide2.xml" /><Relationship Id="rId21" Type="http://schemas.openxmlformats.org/officeDocument/2006/relationships/slide" Target="slides/slide20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slide" Target="slides/slide16.xml" /><Relationship Id="rId25" Type="http://schemas.openxmlformats.org/officeDocument/2006/relationships/slide" Target="slides/slide24.xml" /><Relationship Id="rId2" Type="http://schemas.openxmlformats.org/officeDocument/2006/relationships/slide" Target="slides/slide1.xml" /><Relationship Id="rId16" Type="http://schemas.openxmlformats.org/officeDocument/2006/relationships/slide" Target="slides/slide15.xml" /><Relationship Id="rId20" Type="http://schemas.openxmlformats.org/officeDocument/2006/relationships/slide" Target="slides/slide19.xml" /><Relationship Id="rId29" Type="http://schemas.openxmlformats.org/officeDocument/2006/relationships/viewProps" Target="viewProp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24" Type="http://schemas.openxmlformats.org/officeDocument/2006/relationships/slide" Target="slides/slide23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23" Type="http://schemas.openxmlformats.org/officeDocument/2006/relationships/slide" Target="slides/slide22.xml" /><Relationship Id="rId28" Type="http://schemas.openxmlformats.org/officeDocument/2006/relationships/presProps" Target="presProps.xml" /><Relationship Id="rId10" Type="http://schemas.openxmlformats.org/officeDocument/2006/relationships/slide" Target="slides/slide9.xml" /><Relationship Id="rId19" Type="http://schemas.openxmlformats.org/officeDocument/2006/relationships/slide" Target="slides/slide18.xml" /><Relationship Id="rId31" Type="http://schemas.openxmlformats.org/officeDocument/2006/relationships/tableStyles" Target="tableStyles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Relationship Id="rId22" Type="http://schemas.openxmlformats.org/officeDocument/2006/relationships/slide" Target="slides/slide21.xml" /><Relationship Id="rId27" Type="http://schemas.openxmlformats.org/officeDocument/2006/relationships/notesMaster" Target="notesMasters/notesMaster1.xml" /><Relationship Id="rId30" Type="http://schemas.openxmlformats.org/officeDocument/2006/relationships/theme" Target="theme/theme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F882CE-22B1-4498-85A5-D6639B0C23A6}" type="datetimeFigureOut">
              <a:rPr lang="en-US" smtClean="0"/>
              <a:pPr/>
              <a:t>3/29/2026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8A2627-88C8-48DA-8701-B0775C85E9E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06228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8A2627-88C8-48DA-8701-B0775C85E9E4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77098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EF6BA-8F2F-59C9-6B55-6A8EC8743B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0DED16-7CBC-5499-A56F-D759C259D8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4EADA0-3C7D-09AE-EC95-9C598285D3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4D68E-4383-41DF-A5AD-2B4545825794}" type="datetime5">
              <a:rPr lang="en-US" smtClean="0"/>
              <a:pPr/>
              <a:t>29-Mar-26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4ED0F3-D8A0-4581-C322-79781333A9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E0BD48-D05E-7B54-8F56-0468B4CA2D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85229-E8A1-4526-8839-B788D0F12A0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36303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030C2F-BEED-A54E-6348-EC7232C628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8548E7-6331-A555-3F58-07A075C54D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2FBD33-E8F6-D0AF-1376-E0C334E928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676D8-A157-41E3-8C3B-87A66B59987C}" type="datetime5">
              <a:rPr lang="en-US" smtClean="0"/>
              <a:pPr/>
              <a:t>29-Mar-26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2FF611-7815-51CB-32CE-9A96EC8A60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FB2E2B-4131-49DF-8991-4C30745875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85229-E8A1-4526-8839-B788D0F12A0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9198510"/>
      </p:ext>
    </p:extLst>
  </p:cSld>
  <p:clrMapOvr>
    <a:masterClrMapping/>
  </p:clrMapOvr>
  <p:hf hdr="0" ft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6133C9-F7B8-1E63-56A7-FAE03FA476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7837BB-D787-C7B4-2DD8-CAB00BDED9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F2669A-4466-B0E3-A2EA-E90FBF0BCD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918EB-1EFE-4B47-B281-4FF3632977B0}" type="datetime5">
              <a:rPr lang="en-US" smtClean="0"/>
              <a:pPr/>
              <a:t>29-Mar-26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A013D9-7ED8-8EF2-45BD-C85707D903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EF8A79-8A70-169F-3D2B-9AE30C15E7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85229-E8A1-4526-8839-B788D0F12A0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76528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4929DB-99DD-46B7-B3A7-B9CF200F3C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F4DC5A-0D54-9028-AFEA-847D19E034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A1AD1E-9AC9-E295-4384-A5C4C3823A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00B934-8B73-0C0B-452E-5F0D214B20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676D8-A157-41E3-8C3B-87A66B59987C}" type="datetime5">
              <a:rPr lang="en-US" smtClean="0"/>
              <a:pPr/>
              <a:t>29-Mar-26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27C770-15C2-8A8F-A0AC-23CA0AB8DE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3F80E0-1EEF-B48A-9DFB-54D477ABB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85229-E8A1-4526-8839-B788D0F12A0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1146354"/>
      </p:ext>
    </p:extLst>
  </p:cSld>
  <p:clrMapOvr>
    <a:masterClrMapping/>
  </p:clrMapOvr>
  <p:hf hdr="0" ft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E5C058-B413-677B-7039-FCD7DBF86A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96F4AA-C67E-7302-8772-15F1A42B08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9F807E-D41C-880A-1C93-CE819A3171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A37145B-FF45-D2F2-3FA7-8C33CC6294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689247C-BBE7-27AE-BE34-D4C01AE07DA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9DE8D10-B4D5-C27C-06C2-290E2F7B24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676D8-A157-41E3-8C3B-87A66B59987C}" type="datetime5">
              <a:rPr lang="en-US" smtClean="0"/>
              <a:pPr/>
              <a:t>29-Mar-26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78403B4-7E5A-B7AF-B428-26A042F8B6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A0208A2-B79B-DE3D-2712-2818AD337D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85229-E8A1-4526-8839-B788D0F12A0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2846311"/>
      </p:ext>
    </p:extLst>
  </p:cSld>
  <p:clrMapOvr>
    <a:masterClrMapping/>
  </p:clrMapOvr>
  <p:hf hdr="0" ft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66BA13-1382-C3F0-21AF-044B52A7D1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0D97C33-6657-03FC-1CD8-D7B421EA77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03BFEB-66A4-42A8-A773-7A28FF063394}" type="datetime5">
              <a:rPr lang="en-US" smtClean="0"/>
              <a:pPr/>
              <a:t>29-Mar-26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6369EA-C758-3021-F0CD-CBA078AA3A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7C58FD-A065-F956-4117-480133B576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85229-E8A1-4526-8839-B788D0F12A0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8976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C7EB249-5EF7-2F38-89DC-07DA7BEB99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94D0F7-6F08-4B85-B8C2-87DE2F5A9A5C}" type="datetime5">
              <a:rPr lang="en-US" smtClean="0"/>
              <a:pPr/>
              <a:t>29-Mar-26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4C833E4-94F5-1749-53CE-AC6D0BD27D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4C3E62-1CFC-80C7-A86A-4346066B3A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85229-E8A1-4526-8839-B788D0F12A0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5319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49D87-32C4-C960-5BBE-E3BB02E831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C9DE36-0EB5-A9DD-E1B0-8AB0D9DBD2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CB3A94-388C-B1D7-A393-FE100FC545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1D53A2-33D3-4EB0-D62C-B32A969972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676D8-A157-41E3-8C3B-87A66B59987C}" type="datetime5">
              <a:rPr lang="en-US" smtClean="0"/>
              <a:pPr/>
              <a:t>29-Mar-26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3B3CDF-9533-C0F7-8CEB-B86B3A5495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186D76-3F39-A600-7CFD-AFD6AB1D98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85229-E8A1-4526-8839-B788D0F12A0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1381591"/>
      </p:ext>
    </p:extLst>
  </p:cSld>
  <p:clrMapOvr>
    <a:masterClrMapping/>
  </p:clrMapOvr>
  <p:hf hdr="0" ft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C95DC-EAC5-28B7-8FDF-6E6AC1EC67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DF67CE4-BD7F-A6C6-44D4-E7F59CBED49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A69805-2B50-2992-D862-CB1F933061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686FDD-E0A0-6576-762F-6DFC5CFF14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C3B51-2425-4F8E-AE6B-90488AC6D820}" type="datetime5">
              <a:rPr lang="en-US" smtClean="0"/>
              <a:pPr/>
              <a:t>29-Mar-26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925027-2EF8-9504-A8BE-4F1D46FCB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A48E62-C797-D30D-21C3-6538D94680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85229-E8A1-4526-8839-B788D0F12A0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74021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5FE11A-A1D8-11D6-47EE-EA25076FF6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259339-2D4C-BFBA-2649-C09295A699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B329A0-CB33-8D8B-C6CA-AC5399B51F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676D8-A157-41E3-8C3B-87A66B59987C}" type="datetime5">
              <a:rPr lang="en-US" smtClean="0"/>
              <a:pPr/>
              <a:t>29-Mar-26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E4140B-ECEF-76E1-31DB-0AA6B8F446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5A9D58-ED58-A5C1-A1A4-D17DACA0E6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85229-E8A1-4526-8839-B788D0F12A0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7841576"/>
      </p:ext>
    </p:extLst>
  </p:cSld>
  <p:clrMapOvr>
    <a:masterClrMapping/>
  </p:clrMapOvr>
  <p:hf hdr="0" ft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4A45CDF-C389-A65D-47E4-338A6C457E4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A8EF7B-0C9A-34D2-9ECD-164C412954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891B8D-CEFA-74CD-79A5-C6E826C35E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676D8-A157-41E3-8C3B-87A66B59987C}" type="datetime5">
              <a:rPr lang="en-US" smtClean="0"/>
              <a:pPr/>
              <a:t>29-Mar-26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1E53A6-9F23-0FD3-D951-0344D8C5E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86204A-E2BF-6258-D35D-5FCB4034FF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85229-E8A1-4526-8839-B788D0F12A0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6321274"/>
      </p:ext>
    </p:extLst>
  </p:cSld>
  <p:clrMapOvr>
    <a:masterClrMapping/>
  </p:clrMapOvr>
  <p:hf hdr="0" ftr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4" y="685800"/>
            <a:ext cx="751599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343400"/>
            <a:ext cx="7515992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676D8-A157-41E3-8C3B-87A66B59987C}" type="datetime5">
              <a:rPr lang="en-US" smtClean="0"/>
              <a:pPr/>
              <a:t>29-Mar-26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TITLE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85229-E8A1-4526-8839-B788D0F12A0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1612278"/>
      </p:ext>
    </p:extLst>
  </p:cSld>
  <p:clrMapOvr>
    <a:masterClrMapping/>
  </p:clrMapOvr>
  <p:hf hdr="0" ftr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13" Type="http://schemas.openxmlformats.org/officeDocument/2006/relationships/theme" Target="../theme/theme1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slideLayout" Target="../slideLayouts/slideLayout12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3B71FA9-AA25-9447-BAE5-2283E8A8F9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9A0A9A-ED3A-6C16-329A-EC0F86A2EC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9421EF-A1BC-932C-28A0-14AEAC90ED7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7676D8-A157-41E3-8C3B-87A66B59987C}" type="datetime5">
              <a:rPr lang="en-US" smtClean="0"/>
              <a:pPr/>
              <a:t>29-Mar-26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7C2370-A206-BDA3-E7A0-B3B98E2F4E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299075-8DDF-89A1-8AF4-EC95BB9298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1A85229-E8A1-4526-8839-B788D0F12A0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05633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7" r:id="rId1"/>
    <p:sldLayoutId id="2147483908" r:id="rId2"/>
    <p:sldLayoutId id="2147483909" r:id="rId3"/>
    <p:sldLayoutId id="2147483910" r:id="rId4"/>
    <p:sldLayoutId id="2147483911" r:id="rId5"/>
    <p:sldLayoutId id="2147483912" r:id="rId6"/>
    <p:sldLayoutId id="2147483913" r:id="rId7"/>
    <p:sldLayoutId id="2147483914" r:id="rId8"/>
    <p:sldLayoutId id="2147483915" r:id="rId9"/>
    <p:sldLayoutId id="2147483916" r:id="rId10"/>
    <p:sldLayoutId id="2147483917" r:id="rId11"/>
    <p:sldLayoutId id="2147483918" r:id="rId12"/>
  </p:sldLayoutIdLst>
  <p:hf hdr="0" ftr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 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Layout" Target="../slideLayouts/slideLayout1.xml" 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 /><Relationship Id="rId1" Type="http://schemas.openxmlformats.org/officeDocument/2006/relationships/slideLayout" Target="../slideLayouts/slideLayout2.xml" 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 /><Relationship Id="rId1" Type="http://schemas.openxmlformats.org/officeDocument/2006/relationships/slideLayout" Target="../slideLayouts/slideLayout2.xml" 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 /><Relationship Id="rId1" Type="http://schemas.openxmlformats.org/officeDocument/2006/relationships/slideLayout" Target="../slideLayouts/slideLayout2.xml" 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 /><Relationship Id="rId1" Type="http://schemas.openxmlformats.org/officeDocument/2006/relationships/slideLayout" Target="../slideLayouts/slideLayout2.xml" 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 /><Relationship Id="rId1" Type="http://schemas.openxmlformats.org/officeDocument/2006/relationships/slideLayout" Target="../slideLayouts/slideLayout2.xml" 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 /><Relationship Id="rId2" Type="http://schemas.openxmlformats.org/officeDocument/2006/relationships/image" Target="../media/image9.png" /><Relationship Id="rId1" Type="http://schemas.openxmlformats.org/officeDocument/2006/relationships/slideLayout" Target="../slideLayouts/slideLayout2.xml" 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 /><Relationship Id="rId1" Type="http://schemas.openxmlformats.org/officeDocument/2006/relationships/slideLayout" Target="../slideLayouts/slideLayout9.xml" 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 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 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 /><Relationship Id="rId1" Type="http://schemas.openxmlformats.org/officeDocument/2006/relationships/slideLayout" Target="../slideLayouts/slideLayout7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2E354D09-0BE6-F344-A169-533791361D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17807" y="2408815"/>
            <a:ext cx="6322546" cy="1329481"/>
          </a:xfrm>
        </p:spPr>
        <p:txBody>
          <a:bodyPr>
            <a:normAutofit fontScale="90000"/>
          </a:bodyPr>
          <a:lstStyle/>
          <a:p>
            <a:br>
              <a:rPr lang="en-IN" sz="40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7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SOLAR POWERED IoT BASED ROBOT FOR RAILWAY TRACK INVESTIGATION WITH AI ASSISTANCE</a:t>
            </a:r>
            <a:endParaRPr lang="en-IN" sz="2700" b="1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85AC8F-992A-42EA-BF9F-4E89352A06B9}" type="datetime5">
              <a:rPr lang="en-US" smtClean="0"/>
              <a:pPr/>
              <a:t>29-Mar-26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85229-E8A1-4526-8839-B788D0F12A0E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7" name="Google Shape;93;p1"/>
          <p:cNvSpPr/>
          <p:nvPr/>
        </p:nvSpPr>
        <p:spPr>
          <a:xfrm>
            <a:off x="1417807" y="85663"/>
            <a:ext cx="6336704" cy="21851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200" b="1" i="0" u="none" strike="noStrike" cap="none">
                <a:solidFill>
                  <a:srgbClr val="7030A0"/>
                </a:solidFill>
                <a:latin typeface="Arial" pitchFamily="34" charset="0"/>
                <a:ea typeface="Times New Roman"/>
                <a:cs typeface="Arial" pitchFamily="34" charset="0"/>
                <a:sym typeface="Times New Roman"/>
              </a:rPr>
              <a:t>K.RAMAKRISHNAN COLLEGE OF ENGINEERING</a:t>
            </a:r>
            <a:endParaRPr>
              <a:solidFill>
                <a:srgbClr val="7030A0"/>
              </a:solidFill>
              <a:latin typeface="Arial" pitchFamily="34" charset="0"/>
              <a:cs typeface="Arial" pitchFamily="34" charset="0"/>
            </a:endParaRPr>
          </a:p>
          <a:p>
            <a:pPr marL="0" marR="0" lvl="0" indent="0" algn="ctr" rtl="0">
              <a:buNone/>
            </a:pPr>
            <a:r>
              <a:rPr lang="en-US" sz="2400" b="1" i="0" u="none" strike="noStrike" cap="none">
                <a:latin typeface="Arial" pitchFamily="34" charset="0"/>
                <a:ea typeface="Times New Roman"/>
                <a:cs typeface="Arial" pitchFamily="34" charset="0"/>
                <a:sym typeface="Times New Roman"/>
              </a:rPr>
              <a:t>(Autonomous)</a:t>
            </a:r>
          </a:p>
          <a:p>
            <a:pPr lvl="0" algn="ctr"/>
            <a:r>
              <a:rPr lang="en-US" sz="1600" b="1">
                <a:latin typeface="Arial" pitchFamily="34" charset="0"/>
                <a:ea typeface="Calibri"/>
                <a:cs typeface="Arial" pitchFamily="34" charset="0"/>
                <a:sym typeface="Times New Roman"/>
              </a:rPr>
              <a:t>Accredited by NAAC with - 'A' Grade, NBA Accreditation of EEE</a:t>
            </a:r>
          </a:p>
          <a:p>
            <a:pPr lvl="0" algn="ctr"/>
            <a:r>
              <a:rPr lang="en-IN" sz="1600" b="1" i="0" u="none" strike="noStrike" cap="none">
                <a:solidFill>
                  <a:srgbClr val="FF00FF"/>
                </a:solidFill>
                <a:latin typeface="Arial" pitchFamily="34" charset="0"/>
                <a:ea typeface="Calibri"/>
                <a:cs typeface="Arial" pitchFamily="34" charset="0"/>
                <a:sym typeface="Times New Roman"/>
              </a:rPr>
              <a:t>DEPARTMENT OF EL</a:t>
            </a:r>
            <a:r>
              <a:rPr lang="en-IN" sz="1600" b="1">
                <a:solidFill>
                  <a:srgbClr val="FF00FF"/>
                </a:solidFill>
                <a:latin typeface="Arial" pitchFamily="34" charset="0"/>
                <a:ea typeface="Calibri"/>
                <a:cs typeface="Arial" pitchFamily="34" charset="0"/>
                <a:sym typeface="Times New Roman"/>
              </a:rPr>
              <a:t>ECTRICAL</a:t>
            </a:r>
            <a:r>
              <a:rPr lang="en-IN" sz="1600" b="1" i="0" u="none" strike="noStrike" cap="none">
                <a:solidFill>
                  <a:srgbClr val="FF00FF"/>
                </a:solidFill>
                <a:latin typeface="Arial" pitchFamily="34" charset="0"/>
                <a:ea typeface="Calibri"/>
                <a:cs typeface="Arial" pitchFamily="34" charset="0"/>
                <a:sym typeface="Times New Roman"/>
              </a:rPr>
              <a:t> AND ELECTRONICS ENGINEERING</a:t>
            </a:r>
            <a:endParaRPr sz="1600" b="0" i="0" u="none" strike="noStrike" cap="none">
              <a:solidFill>
                <a:srgbClr val="FF00FF"/>
              </a:solidFill>
              <a:latin typeface="Arial" pitchFamily="34" charset="0"/>
              <a:ea typeface="Calibri"/>
              <a:cs typeface="Arial" pitchFamily="34" charset="0"/>
              <a:sym typeface="Calibri"/>
            </a:endParaRPr>
          </a:p>
        </p:txBody>
      </p:sp>
      <p:pic>
        <p:nvPicPr>
          <p:cNvPr id="8" name="Google Shape;95;p1" descr="Image result for k.ramakrishnan college of engineering"/>
          <p:cNvPicPr preferRelativeResize="0"/>
          <p:nvPr/>
        </p:nvPicPr>
        <p:blipFill rotWithShape="1">
          <a:blip r:embed="rId2" cstate="print">
            <a:alphaModFix/>
          </a:blip>
          <a:srcRect/>
          <a:stretch/>
        </p:blipFill>
        <p:spPr>
          <a:xfrm>
            <a:off x="169606" y="152399"/>
            <a:ext cx="1234041" cy="1260378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96;p1"/>
          <p:cNvSpPr txBox="1"/>
          <p:nvPr/>
        </p:nvSpPr>
        <p:spPr>
          <a:xfrm>
            <a:off x="6732240" y="2132856"/>
            <a:ext cx="2205608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latin typeface="Arial" pitchFamily="34" charset="0"/>
                <a:ea typeface="Times New Roman"/>
                <a:cs typeface="Arial" pitchFamily="34" charset="0"/>
                <a:sym typeface="Times New Roman"/>
              </a:rPr>
              <a:t>BATCH NO : </a:t>
            </a:r>
            <a:r>
              <a:rPr lang="en-US" sz="2000" b="1">
                <a:solidFill>
                  <a:srgbClr val="FF0000"/>
                </a:solidFill>
                <a:latin typeface="Arial" pitchFamily="34" charset="0"/>
                <a:ea typeface="Times New Roman"/>
                <a:cs typeface="Arial" pitchFamily="34" charset="0"/>
                <a:sym typeface="Times New Roman"/>
              </a:rPr>
              <a:t>06</a:t>
            </a:r>
            <a:endParaRPr sz="1800" b="0" i="0" u="none" strike="noStrike" cap="none">
              <a:solidFill>
                <a:srgbClr val="FF0000"/>
              </a:solidFill>
              <a:latin typeface="Arial" pitchFamily="34" charset="0"/>
              <a:ea typeface="Calibri"/>
              <a:cs typeface="Arial" pitchFamily="34" charset="0"/>
              <a:sym typeface="Calibri"/>
            </a:endParaRPr>
          </a:p>
        </p:txBody>
      </p:sp>
      <p:sp>
        <p:nvSpPr>
          <p:cNvPr id="12" name="Google Shape;94;p1"/>
          <p:cNvSpPr/>
          <p:nvPr/>
        </p:nvSpPr>
        <p:spPr>
          <a:xfrm>
            <a:off x="1607251" y="3985515"/>
            <a:ext cx="6322546" cy="2462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u="none" strike="noStrike" cap="none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GUIDED BY</a:t>
            </a:r>
            <a:endParaRPr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u="none" strike="noStrike" cap="none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Mr. </a:t>
            </a:r>
            <a:r>
              <a:rPr lang="en-US" sz="2200" b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A. Prabhu</a:t>
            </a:r>
            <a:r>
              <a:rPr lang="en-US" sz="2200" b="1" i="0" u="none" strike="noStrike" cap="none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, M.E.,(</a:t>
            </a:r>
            <a:r>
              <a:rPr lang="en-US" sz="2200" b="1" i="0" u="none" strike="noStrike" cap="none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Ph.D</a:t>
            </a:r>
            <a:r>
              <a:rPr lang="en-US" sz="2200" b="1" i="0" u="none" strike="noStrike" cap="none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)</a:t>
            </a:r>
            <a:endParaRPr sz="2200">
              <a:solidFill>
                <a:schemeClr val="tx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u="none" strike="noStrike" cap="none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Assistant Professor</a:t>
            </a:r>
            <a:endParaRPr sz="2200" b="0" i="0" u="none" strike="noStrike" cap="none">
              <a:solidFill>
                <a:schemeClr val="tx2">
                  <a:lumMod val="75000"/>
                </a:schemeClr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u="none" strike="noStrike" cap="none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Electrical  and  Electronics  Engineering</a:t>
            </a:r>
            <a:endParaRPr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u="none" strike="noStrike" cap="none" err="1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K.Ramakrishnan</a:t>
            </a:r>
            <a:r>
              <a:rPr lang="en-US" sz="2200" b="1" i="0" u="none" strike="noStrike" cap="none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College of Engineering,</a:t>
            </a:r>
            <a:endParaRPr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u="none" strike="noStrike" cap="none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(Autonomous) </a:t>
            </a:r>
            <a:endParaRPr sz="2200" b="0" i="0" u="none" strike="noStrike" cap="none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u="none" strike="noStrike" cap="none" err="1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Samayapuram</a:t>
            </a:r>
            <a:r>
              <a:rPr lang="en-US" sz="2200" b="1" i="0" u="none" strike="noStrike" cap="none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, Tiruchirappalli – 621 112</a:t>
            </a:r>
            <a:endParaRPr sz="2200" b="1" i="0" u="none" strike="noStrike" cap="none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pic>
        <p:nvPicPr>
          <p:cNvPr id="13" name="Picture 12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694984" y="116631"/>
            <a:ext cx="1269504" cy="129614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0892" y="260649"/>
            <a:ext cx="7704137" cy="1446550"/>
          </a:xfrm>
        </p:spPr>
        <p:txBody>
          <a:bodyPr>
            <a:noAutofit/>
          </a:bodyPr>
          <a:lstStyle/>
          <a:p>
            <a:pPr algn="ctr"/>
            <a:br>
              <a:rPr lang="en-US" sz="22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6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SOLAR POWERED IoT BASED ROBOT FOR RAILWAY TRACK INVESTIGATION WITH AI ASSISTANCE</a:t>
            </a: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6CE22205-910C-80ED-0647-82206F4E87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74164" y="1858779"/>
            <a:ext cx="7704137" cy="2623279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I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</a:t>
            </a:r>
          </a:p>
          <a:p>
            <a:pPr marL="0" indent="0">
              <a:buNone/>
            </a:pPr>
            <a:r>
              <a:rPr lang="en-I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</a:t>
            </a:r>
            <a:r>
              <a:rPr lang="en-IN" sz="3100" b="1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</a:t>
            </a:r>
          </a:p>
          <a:p>
            <a:pPr marL="0" indent="0">
              <a:buNone/>
            </a:pPr>
            <a:endParaRPr lang="en-IN" sz="26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3100" b="1">
                <a:latin typeface="Times New Roman" panose="02020603050405020304" pitchFamily="18" charset="0"/>
                <a:cs typeface="Times New Roman" panose="02020603050405020304" pitchFamily="18" charset="0"/>
              </a:rPr>
              <a:t>GOPIKA S                            -  8115U22EE014</a:t>
            </a:r>
          </a:p>
          <a:p>
            <a:pPr marL="0" indent="0">
              <a:buNone/>
            </a:pPr>
            <a:r>
              <a:rPr lang="en-IN" sz="3100" b="1">
                <a:latin typeface="Times New Roman" panose="02020603050405020304" pitchFamily="18" charset="0"/>
                <a:cs typeface="Times New Roman" panose="02020603050405020304" pitchFamily="18" charset="0"/>
              </a:rPr>
              <a:t>SARSIKA SRI K                  -  8115U22EE041</a:t>
            </a:r>
          </a:p>
          <a:p>
            <a:pPr marL="0" indent="0">
              <a:buNone/>
            </a:pPr>
            <a:r>
              <a:rPr lang="en-IN" sz="3100" b="1">
                <a:latin typeface="Times New Roman" panose="02020603050405020304" pitchFamily="18" charset="0"/>
                <a:cs typeface="Times New Roman" panose="02020603050405020304" pitchFamily="18" charset="0"/>
              </a:rPr>
              <a:t>SURIYADHARSHINI S P   -  8115U22EE049</a:t>
            </a:r>
          </a:p>
          <a:p>
            <a:pPr marL="0" indent="0">
              <a:buNone/>
            </a:pPr>
            <a:r>
              <a:rPr lang="en-IN" sz="3100" b="1">
                <a:latin typeface="Times New Roman" panose="02020603050405020304" pitchFamily="18" charset="0"/>
                <a:cs typeface="Times New Roman" panose="02020603050405020304" pitchFamily="18" charset="0"/>
              </a:rPr>
              <a:t>VENNILA SRI S                  -  8115U22EE055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3FEFC-E94D-47C0-BAF2-3810DCAD4408}" type="datetime5">
              <a:rPr lang="en-US" smtClean="0"/>
              <a:pPr/>
              <a:t>29-Mar-26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85229-E8A1-4526-8839-B788D0F12A0E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115616" y="4872642"/>
            <a:ext cx="6912768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buClr>
                <a:schemeClr val="dk1"/>
              </a:buClr>
              <a:buSzPts val="2800"/>
            </a:pPr>
            <a:r>
              <a:rPr lang="en-US" sz="2200" b="1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Department of Electrical and Electronics Engineering</a:t>
            </a:r>
            <a:endParaRPr 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ctr">
              <a:buClr>
                <a:schemeClr val="dk1"/>
              </a:buClr>
              <a:buSzPts val="2800"/>
            </a:pPr>
            <a:r>
              <a:rPr lang="en-US" sz="2200" b="1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Fourth Year / 8</a:t>
            </a:r>
            <a:r>
              <a:rPr lang="en-US" sz="2200" b="1" baseline="3000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th</a:t>
            </a:r>
            <a:r>
              <a:rPr lang="en-US" sz="2200" b="1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Semester</a:t>
            </a:r>
            <a:endParaRPr 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ctr">
              <a:buClr>
                <a:schemeClr val="dk1"/>
              </a:buClr>
              <a:buSzPts val="2400"/>
            </a:pPr>
            <a:r>
              <a:rPr lang="en-US" sz="2200" b="1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K.RAMAKRISHNAN COLLEGE OF ENGINEERING</a:t>
            </a:r>
            <a:endParaRPr 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ctr">
              <a:buClr>
                <a:schemeClr val="dk1"/>
              </a:buClr>
              <a:buSzPts val="2800"/>
            </a:pPr>
            <a:r>
              <a:rPr lang="en-US" sz="2200" b="1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(Autonomous)</a:t>
            </a:r>
            <a:endParaRPr 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528" y="116631"/>
            <a:ext cx="8568952" cy="1172521"/>
          </a:xfrm>
        </p:spPr>
        <p:txBody>
          <a:bodyPr/>
          <a:lstStyle/>
          <a:p>
            <a:r>
              <a:rPr lang="en-IN" sz="4000" b="1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                   ABSTRACT</a:t>
            </a:r>
            <a:endParaRPr lang="en-US" sz="400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FA835F1-4B20-6B34-8F9C-E0BD9AB5E2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0463" y="1124262"/>
            <a:ext cx="7495082" cy="5232088"/>
          </a:xfrm>
        </p:spPr>
        <p:txBody>
          <a:bodyPr>
            <a:normAutofit lnSpcReduction="10000"/>
          </a:bodyPr>
          <a:lstStyle/>
          <a:p>
            <a:pPr algn="just">
              <a:lnSpc>
                <a:spcPct val="100000"/>
              </a:lnSpc>
            </a:pP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presents a solar-powered AI and IoT-based railway safety robot for real-time monitoring.</a:t>
            </a:r>
            <a:endParaRPr lang="en-IN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</a:pP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ESP32 camera is used for visual detection of obstacles on railway tracks.</a:t>
            </a:r>
          </a:p>
          <a:p>
            <a:pPr algn="just">
              <a:lnSpc>
                <a:spcPct val="100000"/>
              </a:lnSpc>
            </a:pP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IR and ultrasonic sensors provide accurate and reliable obstacle detection.</a:t>
            </a:r>
          </a:p>
          <a:p>
            <a:pPr algn="just">
              <a:lnSpc>
                <a:spcPct val="100000"/>
              </a:lnSpc>
            </a:pP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ESP8266 enables IoT communication for real-time alerts and remote monitoring.</a:t>
            </a:r>
          </a:p>
          <a:p>
            <a:pPr algn="just">
              <a:lnSpc>
                <a:spcPct val="100000"/>
              </a:lnSpc>
            </a:pP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Motor drivers and motors allow autonomous movement for continuous inspection.</a:t>
            </a:r>
          </a:p>
          <a:p>
            <a:pPr algn="just">
              <a:lnSpc>
                <a:spcPct val="100000"/>
              </a:lnSpc>
            </a:pP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Solar panel and battery ensure eco-friendly and uninterrupted operation.</a:t>
            </a:r>
          </a:p>
          <a:p>
            <a:pPr algn="just">
              <a:lnSpc>
                <a:spcPct val="100000"/>
              </a:lnSpc>
            </a:pP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Overall, the system offers a smart, reliable, and future-ready solution for accident-free railway safety.</a:t>
            </a:r>
            <a:endParaRPr lang="en-IN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10800000" flipV="1">
            <a:off x="251520" y="6356350"/>
            <a:ext cx="2133600" cy="817066"/>
          </a:xfrm>
        </p:spPr>
        <p:txBody>
          <a:bodyPr/>
          <a:lstStyle/>
          <a:p>
            <a:fld id="{C67D5E52-EBA8-43FD-B92B-AFC11062CD1A}" type="datetime5">
              <a:rPr lang="en-US" smtClean="0"/>
              <a:pPr/>
              <a:t>29-Mar-26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85229-E8A1-4526-8839-B788D0F12A0E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528" y="116632"/>
            <a:ext cx="8568952" cy="961080"/>
          </a:xfrm>
        </p:spPr>
        <p:txBody>
          <a:bodyPr/>
          <a:lstStyle/>
          <a:p>
            <a:r>
              <a:rPr lang="en-IN" sz="4000" b="1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                    OBJECTIVE</a:t>
            </a:r>
            <a:endParaRPr lang="en-US" sz="40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6833" y="1077713"/>
            <a:ext cx="7862341" cy="4948333"/>
          </a:xfrm>
        </p:spPr>
        <p:txBody>
          <a:bodyPr>
            <a:normAutofit/>
          </a:bodyPr>
          <a:lstStyle/>
          <a:p>
            <a:pPr algn="just"/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To design a smart railway safety robot for real-time obstacle detection on tracks.</a:t>
            </a:r>
            <a:endParaRPr lang="en-IN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To implement AI-based detection using ESP32 camera for improved accuracy.</a:t>
            </a:r>
          </a:p>
          <a:p>
            <a:pPr algn="just"/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To enable IoT communication using ESP8266 for instant alerts and monitoring.</a:t>
            </a:r>
          </a:p>
          <a:p>
            <a:pPr algn="just"/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an autonomous system using sensors and motor drivers for track inspection.</a:t>
            </a:r>
          </a:p>
          <a:p>
            <a:pPr algn="just"/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To utilize solar energy for eco-friendly and continuous operation.</a:t>
            </a:r>
          </a:p>
          <a:p>
            <a:pPr algn="just"/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To integrate multiple sensors (IR, ultrasonic, GPS) for reliable performance.</a:t>
            </a:r>
          </a:p>
          <a:p>
            <a:pPr algn="just"/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To create a safe, efficient, and scalable solution for modern railway systems.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7D5E52-EBA8-43FD-B92B-AFC11062CD1A}" type="datetime5">
              <a:rPr lang="en-US" smtClean="0"/>
              <a:pPr/>
              <a:t>29-Mar-26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85229-E8A1-4526-8839-B788D0F12A0E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10" name="Rectangle 5">
            <a:extLst>
              <a:ext uri="{FF2B5EF4-FFF2-40B4-BE49-F238E27FC236}">
                <a16:creationId xmlns:a16="http://schemas.microsoft.com/office/drawing/2014/main" id="{469CB175-3E93-2AC9-2474-3159E01120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23165"/>
            <a:ext cx="26481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528" y="116632"/>
            <a:ext cx="8568952" cy="792088"/>
          </a:xfrm>
        </p:spPr>
        <p:txBody>
          <a:bodyPr/>
          <a:lstStyle/>
          <a:p>
            <a:r>
              <a:rPr lang="en-IN" sz="4000" b="1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           LITERATURE SURVEY </a:t>
            </a:r>
            <a:endParaRPr lang="en-US" sz="4000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32249830"/>
              </p:ext>
            </p:extLst>
          </p:nvPr>
        </p:nvGraphicFramePr>
        <p:xfrm>
          <a:off x="346907" y="1012224"/>
          <a:ext cx="8456463" cy="5053756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7623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02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862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306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5404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6292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859134">
                <a:tc>
                  <a:txBody>
                    <a:bodyPr/>
                    <a:lstStyle/>
                    <a:p>
                      <a:pPr algn="ctr"/>
                      <a:r>
                        <a:rPr lang="en-IN" sz="200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S.No</a:t>
                      </a:r>
                      <a:endParaRPr lang="en-IN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Year</a:t>
                      </a:r>
                      <a:r>
                        <a:rPr lang="en-IN" sz="2000" baseline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of Publication</a:t>
                      </a:r>
                      <a:endParaRPr 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</a:t>
                      </a:r>
                      <a:endParaRPr 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</a:t>
                      </a:r>
                      <a:endParaRPr 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Focus on Paper</a:t>
                      </a:r>
                      <a:endParaRPr 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Parameters </a:t>
                      </a:r>
                      <a:r>
                        <a:rPr lang="en-IN" sz="200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Analyzed</a:t>
                      </a:r>
                      <a:endParaRPr lang="en-IN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18965">
                <a:tc>
                  <a:txBody>
                    <a:bodyPr/>
                    <a:lstStyle/>
                    <a:p>
                      <a:pPr algn="ctr"/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2025</a:t>
                      </a:r>
                      <a:endParaRPr 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b="0" i="0" kern="12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Sensor-Based Railway Track Monitoring System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 I. Salim</a:t>
                      </a:r>
                      <a:endParaRPr 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Real-time railway track monitoring using basic sensors</a:t>
                      </a:r>
                    </a:p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endParaRPr lang="en-US" sz="15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Vibration, Real-time sensing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45782">
                <a:tc>
                  <a:txBody>
                    <a:bodyPr/>
                    <a:lstStyle/>
                    <a:p>
                      <a:pPr algn="ctr"/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Wireless Railway Track Monitoring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System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M. Sharma</a:t>
                      </a:r>
                      <a:endParaRPr 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IoT –Based 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Wireless monitoring of track condition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Sensor data,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Communication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46906" y="6558805"/>
            <a:ext cx="2133600" cy="365125"/>
          </a:xfrm>
        </p:spPr>
        <p:txBody>
          <a:bodyPr/>
          <a:lstStyle/>
          <a:p>
            <a:fld id="{C67D5E52-EBA8-43FD-B92B-AFC11062CD1A}" type="datetime5">
              <a:rPr lang="en-US" smtClean="0"/>
              <a:pPr/>
              <a:t>29-Mar-26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85229-E8A1-4526-8839-B788D0F12A0E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94D0F7-6F08-4B85-B8C2-87DE2F5A9A5C}" type="datetime5">
              <a:rPr lang="en-US" smtClean="0"/>
              <a:pPr/>
              <a:t>29-Mar-26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85229-E8A1-4526-8839-B788D0F12A0E}" type="slidenum">
              <a:rPr lang="en-US" smtClean="0"/>
              <a:pPr/>
              <a:t>6</a:t>
            </a:fld>
            <a:endParaRPr lang="en-US"/>
          </a:p>
        </p:txBody>
      </p:sp>
      <p:graphicFrame>
        <p:nvGraphicFramePr>
          <p:cNvPr id="4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67398528"/>
              </p:ext>
            </p:extLst>
          </p:nvPr>
        </p:nvGraphicFramePr>
        <p:xfrm>
          <a:off x="449705" y="1154242"/>
          <a:ext cx="8262555" cy="5101911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7061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503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827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7969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2085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2272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116693">
                <a:tc>
                  <a:txBody>
                    <a:bodyPr/>
                    <a:lstStyle/>
                    <a:p>
                      <a:pPr algn="ctr"/>
                      <a:r>
                        <a:rPr lang="en-IN" sz="2000" b="1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S.No</a:t>
                      </a:r>
                      <a:endParaRPr 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Year</a:t>
                      </a:r>
                      <a:r>
                        <a:rPr lang="en-IN" sz="2000" b="1" baseline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of Publication</a:t>
                      </a:r>
                      <a:endParaRPr 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</a:t>
                      </a:r>
                      <a:endParaRPr 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</a:t>
                      </a:r>
                      <a:endParaRPr 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Focus on Paper</a:t>
                      </a:r>
                      <a:endParaRPr 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Parameters </a:t>
                      </a:r>
                      <a:r>
                        <a:rPr lang="en-IN" sz="2000" b="1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Analyzed</a:t>
                      </a:r>
                      <a:endParaRPr 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95065">
                <a:tc>
                  <a:txBody>
                    <a:bodyPr/>
                    <a:lstStyle/>
                    <a:p>
                      <a:pPr algn="ctr"/>
                      <a:r>
                        <a:rPr lang="en-IN" sz="2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US" sz="2000" b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2023</a:t>
                      </a:r>
                      <a:endParaRPr 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IoT-Based Railway Track Monitoring System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 Gupta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r>
                        <a:rPr lang="en-US" sz="2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Crack detection using sensor modules and IoT</a:t>
                      </a:r>
                      <a:endParaRPr lang="en-US" sz="2000" b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Vibration, Stress,</a:t>
                      </a:r>
                    </a:p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Displacement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64978">
                <a:tc>
                  <a:txBody>
                    <a:bodyPr/>
                    <a:lstStyle/>
                    <a:p>
                      <a:pPr algn="ctr"/>
                      <a:r>
                        <a:rPr lang="en-IN" sz="2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US" sz="2000" b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2022</a:t>
                      </a:r>
                      <a:endParaRPr lang="en-US" sz="2000" b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sz="1500" b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Obstacle Detection using IoT Sensors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b="0" kern="12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K. A. Mohamad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en-US" sz="2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Detection of obstacles using distance sensors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en-US" sz="2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Distance sensing,</a:t>
                      </a:r>
                    </a:p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en-US" sz="2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transmission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AFA7958C-985B-D70F-29E1-3CEC26471A72}"/>
              </a:ext>
            </a:extLst>
          </p:cNvPr>
          <p:cNvSpPr txBox="1"/>
          <p:nvPr/>
        </p:nvSpPr>
        <p:spPr>
          <a:xfrm>
            <a:off x="971600" y="188640"/>
            <a:ext cx="77152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0" lang="en-IN" sz="4000" b="1" i="0" u="none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itchFamily="34" charset="0"/>
                <a:ea typeface="+mj-ea"/>
                <a:cs typeface="Arial" pitchFamily="34" charset="0"/>
              </a:rPr>
              <a:t> LITERATURE SURVEY(CONT)</a:t>
            </a:r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04DF1E-7687-D669-E1CB-E222E479EB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7624" y="188641"/>
            <a:ext cx="7499176" cy="1008112"/>
          </a:xfrm>
        </p:spPr>
        <p:txBody>
          <a:bodyPr/>
          <a:lstStyle/>
          <a:p>
            <a:r>
              <a:rPr lang="en-IN" b="1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        PROBLEM FORMULATION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61140F-D498-60DA-01BE-A7B3896DF1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03BFEB-66A4-42A8-A773-7A28FF063394}" type="datetime5">
              <a:rPr lang="en-US" smtClean="0"/>
              <a:pPr/>
              <a:t>29-Mar-26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47A9D1-5189-ADD2-6ABF-059E056073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85229-E8A1-4526-8839-B788D0F12A0E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32E3922-698B-02C9-070A-28E0C8B6BE3F}"/>
              </a:ext>
            </a:extLst>
          </p:cNvPr>
          <p:cNvSpPr txBox="1"/>
          <p:nvPr/>
        </p:nvSpPr>
        <p:spPr>
          <a:xfrm>
            <a:off x="927848" y="1036050"/>
            <a:ext cx="7758952" cy="51098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Railway accidents occur due to late detection of obstacles and track faults, causing serious safety risks.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systems </a:t>
            </a:r>
            <a:r>
              <a:rPr lang="en-US" sz="2200" err="1">
                <a:latin typeface="Times New Roman" panose="02020603050405020304" pitchFamily="18" charset="0"/>
                <a:cs typeface="Times New Roman" panose="02020603050405020304" pitchFamily="18" charset="0"/>
              </a:rPr>
              <a:t>rel</a:t>
            </a:r>
            <a:r>
              <a:rPr lang="en-IN" sz="220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y on manual monitoring, which is affected by human error, fatigue, and limited attention.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Lack of real-time monitoring and instant alert systems leads to delayed emergency response.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Poor visibility in fog, rain, and night conditions reduces the effectiveness of traditional safety methods.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An intelligent, automated, solar-powered IoT system is required for continuous monitoring and accident prevention</a:t>
            </a:r>
            <a:endParaRPr lang="en-IN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96074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528" y="116632"/>
            <a:ext cx="8568952" cy="792088"/>
          </a:xfrm>
        </p:spPr>
        <p:txBody>
          <a:bodyPr>
            <a:noAutofit/>
          </a:bodyPr>
          <a:lstStyle/>
          <a:p>
            <a:r>
              <a:rPr lang="en-IN" sz="4000" b="1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              </a:t>
            </a:r>
            <a:r>
              <a:rPr lang="en-GB" sz="4000" b="1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EXISTING SYSTEM</a:t>
            </a:r>
            <a:endParaRPr lang="en-US" sz="40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42198" y="908720"/>
            <a:ext cx="7950282" cy="5199453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Railway tracks are monitored mainly by manual inspection and loco pilots, which limits continuous safety.</a:t>
            </a:r>
          </a:p>
          <a:p>
            <a:pPr algn="just">
              <a:lnSpc>
                <a:spcPct val="150000"/>
              </a:lnSpc>
            </a:pP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signaling systems control trains but cannot detect real-time obstacles or track faults.</a:t>
            </a:r>
          </a:p>
          <a:p>
            <a:pPr algn="just">
              <a:lnSpc>
                <a:spcPct val="150000"/>
              </a:lnSpc>
            </a:pP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depends on human decisions, which may lead to errors and delayed response.</a:t>
            </a:r>
          </a:p>
          <a:p>
            <a:pPr algn="just">
              <a:lnSpc>
                <a:spcPct val="150000"/>
              </a:lnSpc>
            </a:pP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There is no proper real-time alert system with location tracking, especially in remote areas.</a:t>
            </a:r>
          </a:p>
          <a:p>
            <a:pPr algn="just">
              <a:lnSpc>
                <a:spcPct val="150000"/>
              </a:lnSpc>
            </a:pP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Overall, the system lacks automation and real-time monitoring, creating the need for a smart safety solution.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7D5E52-EBA8-43FD-B92B-AFC11062CD1A}" type="datetime5">
              <a:rPr lang="en-US" smtClean="0"/>
              <a:pPr/>
              <a:t>29-Mar-26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85229-E8A1-4526-8839-B788D0F12A0E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24542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DC7286-C3ED-B342-1D28-8A2A59C278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754" y="136524"/>
            <a:ext cx="8574374" cy="1152629"/>
          </a:xfrm>
        </p:spPr>
        <p:txBody>
          <a:bodyPr>
            <a:noAutofit/>
          </a:bodyPr>
          <a:lstStyle/>
          <a:p>
            <a:pPr algn="ctr"/>
            <a:r>
              <a:rPr lang="en-IN" sz="4000" b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EXISTING SYSTEM LIMITATIONS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D0E792-83CF-DDBC-555A-33689E5D3C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676D8-A157-41E3-8C3B-87A66B59987C}" type="datetime5">
              <a:rPr lang="en-US" smtClean="0"/>
              <a:pPr/>
              <a:t>29-Mar-26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B613CE-5669-5903-2C22-0F53C3F833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85229-E8A1-4526-8839-B788D0F12A0E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20AD339E-8F47-A7B1-0556-4912D3FCAF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8591" y="1374840"/>
            <a:ext cx="7886700" cy="4711167"/>
          </a:xfrm>
        </p:spPr>
        <p:txBody>
          <a:bodyPr>
            <a:noAutofit/>
          </a:bodyPr>
          <a:lstStyle/>
          <a:p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Depends on manual inspection by workers and loco pilots, leading to lack of continuous monitoring.</a:t>
            </a:r>
          </a:p>
          <a:p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 Cannot detect real-time obstacles or track faults, reducing overall safety effectiveness.</a:t>
            </a:r>
          </a:p>
          <a:p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 Heavy reliance on human decisions may lead to errors and missed issues. </a:t>
            </a:r>
          </a:p>
          <a:p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No proper real-time alert system with location tracking, especially in remote areas.</a:t>
            </a:r>
          </a:p>
          <a:p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 Delayed response during critical situations increases the risk of railway accidents</a:t>
            </a:r>
            <a:r>
              <a:rPr lang="en-IN" sz="220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Lacks automation and smart monitoring features, reducing efficiency and proactive safety measures.</a:t>
            </a:r>
          </a:p>
        </p:txBody>
      </p:sp>
    </p:spTree>
    <p:extLst>
      <p:ext uri="{BB962C8B-B14F-4D97-AF65-F5344CB8AC3E}">
        <p14:creationId xmlns:p14="http://schemas.microsoft.com/office/powerpoint/2010/main" val="8997326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02C857-261E-6016-4728-4AF119A8E6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68446" y="255564"/>
            <a:ext cx="4791378" cy="594560"/>
          </a:xfrm>
        </p:spPr>
        <p:txBody>
          <a:bodyPr>
            <a:noAutofit/>
          </a:bodyPr>
          <a:lstStyle/>
          <a:p>
            <a:r>
              <a:rPr lang="en-IN" sz="4000" b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PIN DIAGRAM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821EC71-87A2-D6AF-1F71-321402C418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1560" y="1268761"/>
            <a:ext cx="7992888" cy="4968551"/>
          </a:xfrm>
        </p:spPr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5C7A4F-3A3B-8CA6-059F-7C318CEC2C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4D68E-4383-41DF-A5AD-2B4545825794}" type="datetime5">
              <a:rPr lang="en-US" smtClean="0"/>
              <a:pPr/>
              <a:t>29-Mar-26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733998-63CD-3952-F833-E75E7E5029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85229-E8A1-4526-8839-B788D0F12A0E}" type="slidenum">
              <a:rPr lang="en-US" smtClean="0"/>
              <a:pPr/>
              <a:t>10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5422D1D-8A07-7AE0-C7D2-A78AC12960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2" y="1023611"/>
            <a:ext cx="8147248" cy="5332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54415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504" y="116632"/>
            <a:ext cx="8928992" cy="1143000"/>
          </a:xfrm>
        </p:spPr>
        <p:txBody>
          <a:bodyPr>
            <a:noAutofit/>
          </a:bodyPr>
          <a:lstStyle/>
          <a:p>
            <a:r>
              <a:rPr lang="en-IN" sz="4000" b="1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             BLOCK DIAGRAM</a:t>
            </a:r>
            <a:endParaRPr lang="en-US" sz="4000" b="1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7D5E52-EBA8-43FD-B92B-AFC11062CD1A}" type="datetime5">
              <a:rPr lang="en-US" smtClean="0"/>
              <a:pPr/>
              <a:t>29-Mar-26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85229-E8A1-4526-8839-B788D0F12A0E}" type="slidenum">
              <a:rPr lang="en-US" smtClean="0"/>
              <a:pPr/>
              <a:t>11</a:t>
            </a:fld>
            <a:endParaRPr lang="en-US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A7068AAA-5C0C-2C0E-2412-77369DF02EC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127464"/>
            <a:ext cx="9144000" cy="573053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528" y="116632"/>
            <a:ext cx="8568952" cy="777925"/>
          </a:xfrm>
        </p:spPr>
        <p:txBody>
          <a:bodyPr/>
          <a:lstStyle/>
          <a:p>
            <a:r>
              <a:rPr lang="en-GB" sz="4000" b="1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          PROPOSED SYSTEM</a:t>
            </a:r>
            <a:endParaRPr lang="en-US" sz="40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9158" y="894557"/>
            <a:ext cx="7946192" cy="5581194"/>
          </a:xfrm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en-US" sz="2200" b="1">
                <a:latin typeface="Times New Roman" panose="02020603050405020304" pitchFamily="18" charset="0"/>
                <a:cs typeface="Times New Roman" panose="02020603050405020304" pitchFamily="18" charset="0"/>
              </a:rPr>
              <a:t>Controller Unit: </a:t>
            </a: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The ESP8266 Node-MCU serves as the central controller, efficiently processing sensor data and coordinating all system operations.</a:t>
            </a:r>
            <a:endParaRPr lang="en-IN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</a:pPr>
            <a:r>
              <a:rPr lang="en-US" sz="2200" b="1">
                <a:latin typeface="Times New Roman" panose="02020603050405020304" pitchFamily="18" charset="0"/>
                <a:cs typeface="Times New Roman" panose="02020603050405020304" pitchFamily="18" charset="0"/>
              </a:rPr>
              <a:t>Sensing Unit: </a:t>
            </a: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Ultrasonic and IR sensors enable accurate real-time detection of obstacles and track conditions to enhance safety.</a:t>
            </a:r>
          </a:p>
          <a:p>
            <a:pPr algn="just">
              <a:lnSpc>
                <a:spcPct val="100000"/>
              </a:lnSpc>
            </a:pPr>
            <a:r>
              <a:rPr lang="en-US" sz="2200" b="1">
                <a:latin typeface="Times New Roman" panose="02020603050405020304" pitchFamily="18" charset="0"/>
                <a:cs typeface="Times New Roman" panose="02020603050405020304" pitchFamily="18" charset="0"/>
              </a:rPr>
              <a:t>Vision System: </a:t>
            </a: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The ESP32-CAM provides AI-based visual monitoring, improving detection reliability and situational awareness.</a:t>
            </a:r>
          </a:p>
          <a:p>
            <a:pPr algn="just">
              <a:lnSpc>
                <a:spcPct val="100000"/>
              </a:lnSpc>
            </a:pPr>
            <a:r>
              <a:rPr lang="en-US" sz="2200" b="1">
                <a:latin typeface="Times New Roman" panose="02020603050405020304" pitchFamily="18" charset="0"/>
                <a:cs typeface="Times New Roman" panose="02020603050405020304" pitchFamily="18" charset="0"/>
              </a:rPr>
              <a:t>Tracking &amp; Communication: </a:t>
            </a: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The GPS module ensures precise location tracking, enabling quick alerts and effective emergency response.</a:t>
            </a:r>
          </a:p>
          <a:p>
            <a:pPr algn="just">
              <a:lnSpc>
                <a:spcPct val="100000"/>
              </a:lnSpc>
            </a:pPr>
            <a:r>
              <a:rPr lang="en-US" sz="2200" b="1">
                <a:latin typeface="Times New Roman" panose="02020603050405020304" pitchFamily="18" charset="0"/>
                <a:cs typeface="Times New Roman" panose="02020603050405020304" pitchFamily="18" charset="0"/>
              </a:rPr>
              <a:t>Power Management: </a:t>
            </a: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The solar panel with battery delivers continuous, energy-efficient operation, making the system reliable in remote areas.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7D5E52-EBA8-43FD-B92B-AFC11062CD1A}" type="datetime5">
              <a:rPr lang="en-US" smtClean="0"/>
              <a:pPr/>
              <a:t>29-Mar-26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85229-E8A1-4526-8839-B788D0F12A0E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31468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2F6C4453-EFCB-51EE-8D9F-4B5B6C8BFC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3688" y="188640"/>
            <a:ext cx="6264696" cy="884059"/>
          </a:xfrm>
        </p:spPr>
        <p:txBody>
          <a:bodyPr>
            <a:normAutofit/>
          </a:bodyPr>
          <a:lstStyle/>
          <a:p>
            <a:r>
              <a:rPr lang="en-IN" sz="4000" b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CIRCUIT DIAGRAM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3705A0A-36CE-F6F5-FC2A-C4FD8CFF8F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03BFEB-66A4-42A8-A773-7A28FF063394}" type="datetime5">
              <a:rPr lang="en-US" smtClean="0"/>
              <a:pPr/>
              <a:t>29-Mar-26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F15B49-36F7-8042-B0F2-FFD183F0EB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85229-E8A1-4526-8839-B788D0F12A0E}" type="slidenum">
              <a:rPr lang="en-US" smtClean="0"/>
              <a:pPr/>
              <a:t>13</a:t>
            </a:fld>
            <a:endParaRPr lang="en-US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77CC4A13-269D-1EDE-F91B-032BAC0CF10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9882" y="1072699"/>
            <a:ext cx="8754256" cy="5283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46710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845108-81ED-75EB-585B-D590F56C08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36524"/>
            <a:ext cx="7886700" cy="720727"/>
          </a:xfrm>
        </p:spPr>
        <p:txBody>
          <a:bodyPr>
            <a:normAutofit/>
          </a:bodyPr>
          <a:lstStyle/>
          <a:p>
            <a:r>
              <a:rPr lang="en-IN" sz="4000" b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COMPONENTS USED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9ECA7F23-7748-4FE3-3921-E38FE883EF8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3350" y="857251"/>
            <a:ext cx="8839200" cy="549910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FAFEFE-B674-6952-29C6-59EFA99464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676D8-A157-41E3-8C3B-87A66B59987C}" type="datetime5">
              <a:rPr lang="en-US" smtClean="0"/>
              <a:pPr/>
              <a:t>29-Mar-26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7B5430-00A4-AE51-99E8-19C01061C0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85229-E8A1-4526-8839-B788D0F12A0E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41748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EF17BC-4505-2901-5691-384B0782F0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49" y="260647"/>
            <a:ext cx="8215548" cy="936104"/>
          </a:xfrm>
        </p:spPr>
        <p:txBody>
          <a:bodyPr>
            <a:noAutofit/>
          </a:bodyPr>
          <a:lstStyle/>
          <a:p>
            <a:r>
              <a:rPr lang="en-IN" sz="4000" b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PROPOSED SYSTEM WORKING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EF9D58-6267-F85E-FDF7-30B36CE10C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9666" y="1196753"/>
            <a:ext cx="7704667" cy="5400600"/>
          </a:xfrm>
        </p:spPr>
        <p:txBody>
          <a:bodyPr>
            <a:normAutofit/>
          </a:bodyPr>
          <a:lstStyle/>
          <a:p>
            <a:pPr algn="just"/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is powered by a solar panel with battery backup, ensuring uninterrupted operation even in remote railway areas. </a:t>
            </a:r>
          </a:p>
          <a:p>
            <a:pPr algn="just"/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The ESP8266 microcontroller acts as the central control unit, managing sensor inputs and communication. </a:t>
            </a:r>
          </a:p>
          <a:p>
            <a:pPr algn="just"/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The ESP32 camera module continuously captures real-time images of the railway track. </a:t>
            </a:r>
          </a:p>
          <a:p>
            <a:pPr algn="just"/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IR and ultrasonic sensors detect obstacles based on object presence and distance measurement. </a:t>
            </a:r>
          </a:p>
          <a:p>
            <a:pPr algn="just"/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The collected data from sensors and camera is processed together for accurate obstacle identification. </a:t>
            </a:r>
          </a:p>
          <a:p>
            <a:pPr algn="just"/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AI algorithms analyze the captured data to improve detection accuracy and reduce false signals.</a:t>
            </a:r>
            <a:endParaRPr lang="en-IN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This stage forms the intelligent foundation of the system by ensuring precise and reliable obstacle detection.</a:t>
            </a:r>
          </a:p>
          <a:p>
            <a:endParaRPr lang="en-IN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A625D2-FC5E-BB56-43B4-2C63DA9865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676D8-A157-41E3-8C3B-87A66B59987C}" type="datetime5">
              <a:rPr lang="en-US" smtClean="0"/>
              <a:pPr/>
              <a:t>29-Mar-26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0200FE-0DCA-0F3A-2EE9-AF5CECEFF9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85229-E8A1-4526-8839-B788D0F12A0E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29998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B83126-80A0-7CFD-FFCE-A6EA6BA0FC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4813" y="136524"/>
            <a:ext cx="8859187" cy="987739"/>
          </a:xfrm>
        </p:spPr>
        <p:txBody>
          <a:bodyPr>
            <a:noAutofit/>
          </a:bodyPr>
          <a:lstStyle/>
          <a:p>
            <a:pPr algn="ctr"/>
            <a:r>
              <a:rPr lang="en-IN" sz="4000" b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PROPOSED SYSTEM WORKING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6AE06A-8ECF-78FA-0474-25E07A8F06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676D8-A157-41E3-8C3B-87A66B59987C}" type="datetime5">
              <a:rPr lang="en-US" smtClean="0"/>
              <a:pPr/>
              <a:t>29-Mar-26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709FEE7-F6B0-8642-4A55-129E01A33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85229-E8A1-4526-8839-B788D0F12A0E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78BCC87-0603-BE43-44F9-1D41BB8B2C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1683" y="1169233"/>
            <a:ext cx="8080634" cy="5142147"/>
          </a:xfrm>
        </p:spPr>
        <p:txBody>
          <a:bodyPr>
            <a:normAutofit lnSpcReduction="10000"/>
          </a:bodyPr>
          <a:lstStyle/>
          <a:p>
            <a:pPr algn="just">
              <a:lnSpc>
                <a:spcPct val="100000"/>
              </a:lnSpc>
            </a:pP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After detection, the system uses AI-based decision-making to confirm and classify obstacles. </a:t>
            </a:r>
          </a:p>
          <a:p>
            <a:pPr algn="just">
              <a:lnSpc>
                <a:spcPct val="100000"/>
              </a:lnSpc>
            </a:pP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The motor driver and motors enable the robot to move autonomously along the railway track. </a:t>
            </a:r>
          </a:p>
          <a:p>
            <a:pPr algn="just">
              <a:lnSpc>
                <a:spcPct val="100000"/>
              </a:lnSpc>
            </a:pP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When an obstacle is detected, the system immediately stops and initiates safety actions. </a:t>
            </a:r>
          </a:p>
          <a:p>
            <a:pPr algn="just">
              <a:lnSpc>
                <a:spcPct val="100000"/>
              </a:lnSpc>
            </a:pP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The GPS module provides exact location details of the detected obstacle. </a:t>
            </a:r>
          </a:p>
          <a:p>
            <a:pPr algn="just">
              <a:lnSpc>
                <a:spcPct val="100000"/>
              </a:lnSpc>
            </a:pP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Through IoT (ESP8266), real-time alerts are sent to railway authorities or users. </a:t>
            </a:r>
          </a:p>
          <a:p>
            <a:pPr algn="just">
              <a:lnSpc>
                <a:spcPct val="100000"/>
              </a:lnSpc>
            </a:pP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ensures continuous monitoring, quick response, and reduced human dependency. </a:t>
            </a:r>
          </a:p>
          <a:p>
            <a:pPr algn="just">
              <a:lnSpc>
                <a:spcPct val="100000"/>
              </a:lnSpc>
            </a:pP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This system provides a smart, autonomous, and life-saving solution that significantly enhances railway safety and efficiency.</a:t>
            </a:r>
          </a:p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36839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00CC29-8411-88E0-ADB5-C272248A42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36524"/>
            <a:ext cx="7886700" cy="1139827"/>
          </a:xfrm>
        </p:spPr>
        <p:txBody>
          <a:bodyPr>
            <a:normAutofit/>
          </a:bodyPr>
          <a:lstStyle/>
          <a:p>
            <a:r>
              <a:rPr lang="en-IN" sz="4000" b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SYSTEM FLOWCHART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C2BBD0-7C9A-BABF-C8D0-0CF8047D74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676D8-A157-41E3-8C3B-87A66B59987C}" type="datetime5">
              <a:rPr lang="en-US" smtClean="0"/>
              <a:pPr/>
              <a:t>29-Mar-26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6F7511-B886-54DF-CA17-B2ADCF1EB6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85229-E8A1-4526-8839-B788D0F12A0E}" type="slidenum">
              <a:rPr lang="en-US" smtClean="0"/>
              <a:pPr/>
              <a:t>17</a:t>
            </a:fld>
            <a:endParaRPr lang="en-US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5BCA6CCC-202B-D395-71B3-943EC483BEC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19250" y="1276350"/>
            <a:ext cx="5581650" cy="5257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82063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528" y="116632"/>
            <a:ext cx="8568952" cy="1143000"/>
          </a:xfrm>
        </p:spPr>
        <p:txBody>
          <a:bodyPr/>
          <a:lstStyle/>
          <a:p>
            <a:r>
              <a:rPr lang="en-US" sz="4000" b="1">
                <a:solidFill>
                  <a:srgbClr val="0070C0"/>
                </a:solidFill>
                <a:latin typeface="Airal"/>
              </a:rPr>
              <a:t>             HARDWARE PROTOTYPE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7D5E52-EBA8-43FD-B92B-AFC11062CD1A}" type="datetime5">
              <a:rPr lang="en-US" smtClean="0"/>
              <a:pPr/>
              <a:t>29-Mar-26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85229-E8A1-4526-8839-B788D0F12A0E}" type="slidenum">
              <a:rPr lang="en-US" smtClean="0"/>
              <a:pPr/>
              <a:t>18</a:t>
            </a:fld>
            <a:endParaRPr lang="en-US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079A9E5C-65CF-3CD2-0745-54CE7DB0721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69036" y="1259632"/>
            <a:ext cx="6475751" cy="4917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88266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655AFE-BEF5-BB55-3E7A-F63EAFC348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36524"/>
            <a:ext cx="7886700" cy="1120777"/>
          </a:xfrm>
        </p:spPr>
        <p:txBody>
          <a:bodyPr>
            <a:normAutofit/>
          </a:bodyPr>
          <a:lstStyle/>
          <a:p>
            <a:r>
              <a:rPr lang="en-IN" sz="4000" b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RESULTS AND OUTPUT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176EA1EC-1C89-0ED0-6403-A7E775B2759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972050" y="2794001"/>
            <a:ext cx="4038600" cy="356235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0AECC1-BD25-2D5E-EEB6-F965C168D1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676D8-A157-41E3-8C3B-87A66B59987C}" type="datetime5">
              <a:rPr lang="en-US" smtClean="0"/>
              <a:pPr/>
              <a:t>29-Mar-26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D64BBA1-B8E6-0EF3-1C2F-CCA95B8ED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85229-E8A1-4526-8839-B788D0F12A0E}" type="slidenum">
              <a:rPr lang="en-US" smtClean="0"/>
              <a:pPr/>
              <a:t>19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3C7E888-8540-AF84-6915-AE4B40353E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" y="1195388"/>
            <a:ext cx="4572000" cy="3562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62545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71810A-C1B5-1A68-B2F7-E5BCE49059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2133" y="136524"/>
            <a:ext cx="7704667" cy="1196510"/>
          </a:xfrm>
        </p:spPr>
        <p:txBody>
          <a:bodyPr>
            <a:normAutofit/>
          </a:bodyPr>
          <a:lstStyle/>
          <a:p>
            <a:r>
              <a:rPr lang="en-IN" sz="4000" b="1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             ADVANTAGES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C7BE76-9780-2E63-8000-433996735A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469033"/>
            <a:ext cx="7931224" cy="4047347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US" sz="220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Real-time obstacle detection improves safety.</a:t>
            </a:r>
          </a:p>
          <a:p>
            <a:pPr>
              <a:lnSpc>
                <a:spcPct val="120000"/>
              </a:lnSpc>
            </a:pPr>
            <a:r>
              <a:rPr lang="en-US" sz="220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Continuous monitoring reduces human effort. </a:t>
            </a:r>
          </a:p>
          <a:p>
            <a:pPr>
              <a:lnSpc>
                <a:spcPct val="120000"/>
              </a:lnSpc>
            </a:pPr>
            <a:r>
              <a:rPr lang="en-US" sz="220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Solar power ensures eco-friendly operation. </a:t>
            </a:r>
          </a:p>
          <a:p>
            <a:pPr>
              <a:lnSpc>
                <a:spcPct val="120000"/>
              </a:lnSpc>
            </a:pPr>
            <a:r>
              <a:rPr lang="en-US" sz="220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IoT enables instant alerts and remote control. </a:t>
            </a:r>
          </a:p>
          <a:p>
            <a:pPr>
              <a:lnSpc>
                <a:spcPct val="120000"/>
              </a:lnSpc>
            </a:pPr>
            <a:r>
              <a:rPr lang="en-US" sz="220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AI improves accuracy and decision making. </a:t>
            </a:r>
          </a:p>
          <a:p>
            <a:pPr>
              <a:lnSpc>
                <a:spcPct val="120000"/>
              </a:lnSpc>
            </a:pPr>
            <a:r>
              <a:rPr lang="en-US" sz="220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Works effectively in remote areas.</a:t>
            </a:r>
          </a:p>
          <a:p>
            <a:pPr>
              <a:lnSpc>
                <a:spcPct val="120000"/>
              </a:lnSpc>
            </a:pPr>
            <a:r>
              <a:rPr lang="en-US" sz="220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Reduces accident risk through early detection</a:t>
            </a:r>
            <a:endParaRPr lang="en-IN" sz="220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A9C8EC-2DF6-01EC-9770-17D7D4E5DF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7D5E52-EBA8-43FD-B92B-AFC11062CD1A}" type="datetime5">
              <a:rPr lang="en-US" smtClean="0"/>
              <a:pPr/>
              <a:t>29-Mar-26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3AC30B-F2CB-F5B1-B775-C4D895805D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85229-E8A1-4526-8839-B788D0F12A0E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796031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EE248DA1-AD54-CCFE-A3D4-1ED7F68626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7350" y="502653"/>
            <a:ext cx="5259868" cy="576064"/>
          </a:xfrm>
        </p:spPr>
        <p:txBody>
          <a:bodyPr>
            <a:noAutofit/>
          </a:bodyPr>
          <a:lstStyle/>
          <a:p>
            <a:r>
              <a:rPr lang="en-IN" sz="4000" b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APPLICATIONS</a:t>
            </a:r>
          </a:p>
        </p:txBody>
      </p:sp>
      <p:pic>
        <p:nvPicPr>
          <p:cNvPr id="11" name="Picture Placeholder 10">
            <a:extLst>
              <a:ext uri="{FF2B5EF4-FFF2-40B4-BE49-F238E27FC236}">
                <a16:creationId xmlns:a16="http://schemas.microsoft.com/office/drawing/2014/main" id="{CF43B3B7-3A00-1571-9B2F-586237AEA18F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t="8755" b="8755"/>
          <a:stretch>
            <a:fillRect/>
          </a:stretch>
        </p:blipFill>
        <p:spPr>
          <a:xfrm>
            <a:off x="4876800" y="1424068"/>
            <a:ext cx="3874482" cy="4538337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7E064A-D520-C875-2C43-1FF8F57B4F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34780" y="1367660"/>
            <a:ext cx="4542020" cy="4650573"/>
          </a:xfrm>
        </p:spPr>
        <p:txBody>
          <a:bodyPr>
            <a:normAutofit/>
          </a:bodyPr>
          <a:lstStyle/>
          <a:p>
            <a:endParaRPr 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F66D0C-39EF-53F5-67B2-D64354F074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676D8-A157-41E3-8C3B-87A66B59987C}" type="datetime5">
              <a:rPr lang="en-US" smtClean="0"/>
              <a:pPr/>
              <a:t>29-Mar-26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7C466D6-A464-0F9A-CA15-BDBC734859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85229-E8A1-4526-8839-B788D0F12A0E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FE1964C-C737-2D4D-C60F-B0A5CC25E397}"/>
              </a:ext>
            </a:extLst>
          </p:cNvPr>
          <p:cNvSpPr txBox="1"/>
          <p:nvPr/>
        </p:nvSpPr>
        <p:spPr>
          <a:xfrm>
            <a:off x="392718" y="1296436"/>
            <a:ext cx="4179282" cy="5170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Railway track safety monitoring ensures safe and continuous inspection.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Real-time obstacle detection identifies obstacles quickly using sensors and AI.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 Autonomous track inspection performs automatic monitoring in remote areas.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IoT-based remote monitoring enables real-time tracking and control.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Immediate alerts with live tracking.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694342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1209807E-C704-41D8-19E2-30BE02D463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9036" y="284813"/>
            <a:ext cx="6340840" cy="674558"/>
          </a:xfrm>
        </p:spPr>
        <p:txBody>
          <a:bodyPr>
            <a:noAutofit/>
          </a:bodyPr>
          <a:lstStyle/>
          <a:p>
            <a:r>
              <a:rPr lang="en-IN" sz="4000" b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FUTURE SCOPE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C422B30-50CE-F7F1-5E67-7773368343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49508" y="1439057"/>
            <a:ext cx="7540053" cy="4917294"/>
          </a:xfrm>
        </p:spPr>
        <p:txBody>
          <a:bodyPr>
            <a:normAutofit fontScale="25000" lnSpcReduction="20000"/>
          </a:bodyPr>
          <a:lstStyle/>
          <a:p>
            <a:pPr algn="l"/>
            <a:endParaRPr lang="en-IN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IN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IN" sz="8800" b="1">
                <a:latin typeface="Times New Roman" panose="02020603050405020304" pitchFamily="18" charset="0"/>
                <a:cs typeface="Times New Roman" panose="02020603050405020304" pitchFamily="18" charset="0"/>
              </a:rPr>
              <a:t>Advanced AI: </a:t>
            </a:r>
            <a:r>
              <a:rPr lang="en-IN" sz="8800">
                <a:latin typeface="Times New Roman" panose="02020603050405020304" pitchFamily="18" charset="0"/>
                <a:cs typeface="Times New Roman" panose="02020603050405020304" pitchFamily="18" charset="0"/>
              </a:rPr>
              <a:t>Improve ESP32 camera for faster and more accurate obstacle detection.</a:t>
            </a:r>
          </a:p>
          <a:p>
            <a:pPr marL="342900" indent="-342900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IN" sz="8800" b="1">
                <a:latin typeface="Times New Roman" panose="02020603050405020304" pitchFamily="18" charset="0"/>
                <a:cs typeface="Times New Roman" panose="02020603050405020304" pitchFamily="18" charset="0"/>
              </a:rPr>
              <a:t>Expanded IoT Monitoring: </a:t>
            </a:r>
            <a:r>
              <a:rPr lang="en-IN" sz="8800">
                <a:latin typeface="Times New Roman" panose="02020603050405020304" pitchFamily="18" charset="0"/>
                <a:cs typeface="Times New Roman" panose="02020603050405020304" pitchFamily="18" charset="0"/>
              </a:rPr>
              <a:t>Enable cloud-based real-time monitoring using ESP8266.</a:t>
            </a:r>
          </a:p>
          <a:p>
            <a:pPr marL="342900" indent="-342900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IN" sz="8800" b="1">
                <a:latin typeface="Times New Roman" panose="02020603050405020304" pitchFamily="18" charset="0"/>
                <a:cs typeface="Times New Roman" panose="02020603050405020304" pitchFamily="18" charset="0"/>
              </a:rPr>
              <a:t>Autonomous Navigation: </a:t>
            </a:r>
            <a:r>
              <a:rPr lang="en-IN" sz="8800">
                <a:latin typeface="Times New Roman" panose="02020603050405020304" pitchFamily="18" charset="0"/>
                <a:cs typeface="Times New Roman" panose="02020603050405020304" pitchFamily="18" charset="0"/>
              </a:rPr>
              <a:t>Develop fully self-patrolling robot using sensors and motor drivers.</a:t>
            </a:r>
          </a:p>
          <a:p>
            <a:pPr marL="342900" indent="-342900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IN" sz="8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8800" b="1">
                <a:latin typeface="Times New Roman" panose="02020603050405020304" pitchFamily="18" charset="0"/>
                <a:cs typeface="Times New Roman" panose="02020603050405020304" pitchFamily="18" charset="0"/>
              </a:rPr>
              <a:t>Optimized Solar: </a:t>
            </a:r>
            <a:r>
              <a:rPr lang="en-IN" sz="8800">
                <a:latin typeface="Times New Roman" panose="02020603050405020304" pitchFamily="18" charset="0"/>
                <a:cs typeface="Times New Roman" panose="02020603050405020304" pitchFamily="18" charset="0"/>
              </a:rPr>
              <a:t>Enhance battery and solar system for continuous operation.</a:t>
            </a:r>
          </a:p>
          <a:p>
            <a:pPr marL="342900" indent="-342900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IN" sz="8800" b="1">
                <a:latin typeface="Times New Roman" panose="02020603050405020304" pitchFamily="18" charset="0"/>
                <a:cs typeface="Times New Roman" panose="02020603050405020304" pitchFamily="18" charset="0"/>
              </a:rPr>
              <a:t>Multi-Sensor Integration:</a:t>
            </a:r>
            <a:r>
              <a:rPr lang="en-IN" sz="8800">
                <a:latin typeface="Times New Roman" panose="02020603050405020304" pitchFamily="18" charset="0"/>
                <a:cs typeface="Times New Roman" panose="02020603050405020304" pitchFamily="18" charset="0"/>
              </a:rPr>
              <a:t> Add more IR, ultrasonic, and GPS sensors for better safety.</a:t>
            </a:r>
          </a:p>
          <a:p>
            <a:pPr marL="342900" indent="-342900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IN" sz="8800" b="1">
                <a:latin typeface="Times New Roman" panose="02020603050405020304" pitchFamily="18" charset="0"/>
                <a:cs typeface="Times New Roman" panose="02020603050405020304" pitchFamily="18" charset="0"/>
              </a:rPr>
              <a:t>Data Analytics:</a:t>
            </a:r>
            <a:r>
              <a:rPr lang="en-IN" sz="880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IN" sz="880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8800">
                <a:latin typeface="Times New Roman" panose="02020603050405020304" pitchFamily="18" charset="0"/>
                <a:cs typeface="Times New Roman" panose="02020603050405020304" pitchFamily="18" charset="0"/>
              </a:rPr>
              <a:t> IoT data to predict railway hazards in advance.</a:t>
            </a:r>
          </a:p>
          <a:p>
            <a:pPr marL="342900" indent="-342900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IN" sz="8800" b="1">
                <a:latin typeface="Times New Roman" panose="02020603050405020304" pitchFamily="18" charset="0"/>
                <a:cs typeface="Times New Roman" panose="02020603050405020304" pitchFamily="18" charset="0"/>
              </a:rPr>
              <a:t>Centralized Control: </a:t>
            </a:r>
            <a:r>
              <a:rPr lang="en-IN" sz="8800">
                <a:latin typeface="Times New Roman" panose="02020603050405020304" pitchFamily="18" charset="0"/>
                <a:cs typeface="Times New Roman" panose="02020603050405020304" pitchFamily="18" charset="0"/>
              </a:rPr>
              <a:t>Connect system with railway control  </a:t>
            </a:r>
            <a:r>
              <a:rPr lang="en-IN" sz="8800" err="1">
                <a:latin typeface="Times New Roman" panose="02020603050405020304" pitchFamily="18" charset="0"/>
                <a:cs typeface="Times New Roman" panose="02020603050405020304" pitchFamily="18" charset="0"/>
              </a:rPr>
              <a:t>centers</a:t>
            </a:r>
            <a:r>
              <a:rPr lang="en-IN" sz="8800">
                <a:latin typeface="Times New Roman" panose="02020603050405020304" pitchFamily="18" charset="0"/>
                <a:cs typeface="Times New Roman" panose="02020603050405020304" pitchFamily="18" charset="0"/>
              </a:rPr>
              <a:t> for quick response.</a:t>
            </a:r>
          </a:p>
          <a:p>
            <a:pPr algn="just">
              <a:lnSpc>
                <a:spcPct val="120000"/>
              </a:lnSpc>
            </a:pPr>
            <a:endParaRPr lang="en-IN" sz="4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IN" sz="4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IN" sz="4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806C15-E139-F88C-E1F5-4EEDFEE3B8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C3B51-2425-4F8E-AE6B-90488AC6D820}" type="datetime5">
              <a:rPr lang="en-US" smtClean="0"/>
              <a:pPr/>
              <a:t>29-Mar-26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283686-99E5-13A5-5C84-2EA6F05BDD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85229-E8A1-4526-8839-B788D0F12A0E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518966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BA05B3-AF03-F162-3D6C-795A8BBD6F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3688" y="188641"/>
            <a:ext cx="6120680" cy="576063"/>
          </a:xfrm>
        </p:spPr>
        <p:txBody>
          <a:bodyPr>
            <a:noAutofit/>
          </a:bodyPr>
          <a:lstStyle/>
          <a:p>
            <a:r>
              <a:rPr lang="en-IN" sz="4000" b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06087E-CD0E-E66A-E2E9-D8E85FB42B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6535" y="884421"/>
            <a:ext cx="7630931" cy="5471930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ensures real-time obstacle detection using AI and IoT, improving railway safety significantly.</a:t>
            </a:r>
          </a:p>
          <a:p>
            <a:pPr algn="just">
              <a:lnSpc>
                <a:spcPct val="150000"/>
              </a:lnSpc>
            </a:pP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ESP32 camera, ESP8266, sensors, and motor drivers enable autonomous, intelligent track monitoring.</a:t>
            </a:r>
          </a:p>
          <a:p>
            <a:pPr algn="just">
              <a:lnSpc>
                <a:spcPct val="150000"/>
              </a:lnSpc>
            </a:pP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Solar-powered design ensures continuous, eco-friendly operation in remote areas.</a:t>
            </a:r>
          </a:p>
          <a:p>
            <a:pPr algn="just">
              <a:lnSpc>
                <a:spcPct val="150000"/>
              </a:lnSpc>
            </a:pP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Multi-sensor integration provides a scalable and reliable solution for nationwide railway safety.</a:t>
            </a:r>
          </a:p>
          <a:p>
            <a:pPr algn="just">
              <a:lnSpc>
                <a:spcPct val="150000"/>
              </a:lnSpc>
            </a:pP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Overall, the project is a smart, sustainable, and futuristic step towards accident-free railways.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08CCF-0C2B-E0E4-E7EF-53F0974752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7D5E52-EBA8-43FD-B92B-AFC11062CD1A}" type="datetime5">
              <a:rPr lang="en-US" smtClean="0"/>
              <a:pPr/>
              <a:t>29-Mar-26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4B3C9D-885B-CDF1-762F-9BC10DD33E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85229-E8A1-4526-8839-B788D0F12A0E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860163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B2F4EE-C57D-76E2-CB68-0B1AB29F71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3524" y="188640"/>
            <a:ext cx="7515991" cy="1080120"/>
          </a:xfrm>
        </p:spPr>
        <p:txBody>
          <a:bodyPr>
            <a:normAutofit/>
          </a:bodyPr>
          <a:lstStyle/>
          <a:p>
            <a:pPr algn="just"/>
            <a:r>
              <a:rPr lang="en-IN" sz="4000" b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REFERENCE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2FD5F52-562D-86BF-7A9C-0CC13045A5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5343" y="1133849"/>
            <a:ext cx="7994172" cy="5222502"/>
          </a:xfrm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en-IN" sz="2200">
                <a:latin typeface="Times New Roman" panose="02020603050405020304" pitchFamily="18" charset="0"/>
                <a:cs typeface="Times New Roman" panose="02020603050405020304" pitchFamily="18" charset="0"/>
              </a:rPr>
              <a:t>[1] M. Tandon, et al., “Obstacle Detection on Railway Track Using Ultrasonic Sensor,” International Journal of Research in Engineering and Applied Sciences (IJREAM), vol. 6, no. 4, pp. 45–49, 2020.</a:t>
            </a:r>
          </a:p>
          <a:p>
            <a:pPr algn="just">
              <a:lnSpc>
                <a:spcPct val="100000"/>
              </a:lnSpc>
            </a:pPr>
            <a:r>
              <a:rPr lang="en-IN" sz="2200">
                <a:latin typeface="Times New Roman" panose="02020603050405020304" pitchFamily="18" charset="0"/>
                <a:cs typeface="Times New Roman" panose="02020603050405020304" pitchFamily="18" charset="0"/>
              </a:rPr>
              <a:t>[2] A. A. Aziz, et al., “Train Obstacle Detection System Using Microcontroller,” Indonesian Journal of Electrical Engineering and Computer Science (IJEECS), vol. 21, no. 2, pp. 1123–1130, 2021.</a:t>
            </a:r>
          </a:p>
          <a:p>
            <a:pPr algn="just">
              <a:lnSpc>
                <a:spcPct val="100000"/>
              </a:lnSpc>
            </a:pPr>
            <a:r>
              <a:rPr lang="en-IN" sz="2200">
                <a:latin typeface="Times New Roman" panose="02020603050405020304" pitchFamily="18" charset="0"/>
                <a:cs typeface="Times New Roman" panose="02020603050405020304" pitchFamily="18" charset="0"/>
              </a:rPr>
              <a:t>[3] M. K. A. Mohamad, et al., “Obstacle Detection System for Railways using IoT Sensors,” Journal of Engineering and Applied Sciences, vol. 15, no. 7, pp. 2105–2110, 2020.</a:t>
            </a:r>
          </a:p>
          <a:p>
            <a:pPr algn="just">
              <a:lnSpc>
                <a:spcPct val="100000"/>
              </a:lnSpc>
            </a:pPr>
            <a:r>
              <a:rPr lang="en-IN" sz="2200">
                <a:latin typeface="Times New Roman" panose="02020603050405020304" pitchFamily="18" charset="0"/>
                <a:cs typeface="Times New Roman" panose="02020603050405020304" pitchFamily="18" charset="0"/>
              </a:rPr>
              <a:t>[4] IRJET Authors, “IoT Based Railway Monitoring System,” International Research Journal of Engineering and Technology (IRJET), vol. 7, no. 6, pp. 2395–0072, 2020.</a:t>
            </a:r>
          </a:p>
          <a:p>
            <a:pPr algn="just"/>
            <a:endParaRPr lang="en-IN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37D0210-B218-84D7-D2A4-BF1E305331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03BFEB-66A4-42A8-A773-7A28FF063394}" type="datetime5">
              <a:rPr lang="en-US" smtClean="0"/>
              <a:pPr/>
              <a:t>29-Mar-26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67E7BD-D267-7DB1-3D02-1C32B118BA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85229-E8A1-4526-8839-B788D0F12A0E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222244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2CC91-FD91-42E2-AEA0-9F53F3DA0686}" type="datetime5">
              <a:rPr lang="en-US" smtClean="0"/>
              <a:pPr/>
              <a:t>29-Mar-26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85229-E8A1-4526-8839-B788D0F12A0E}" type="slidenum">
              <a:rPr lang="en-US" smtClean="0"/>
              <a:pPr/>
              <a:t>25</a:t>
            </a:fld>
            <a:endParaRPr lang="en-US"/>
          </a:p>
        </p:txBody>
      </p:sp>
      <p:pic>
        <p:nvPicPr>
          <p:cNvPr id="5" name="Picture 4" descr="Thank You PNG Transparent Images Free Download | Vector Files | Pngtree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15616" y="548680"/>
            <a:ext cx="7200800" cy="56166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On-screen Show (4:3)</PresentationFormat>
  <Slides>25</Slides>
  <Notes>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6" baseType="lpstr">
      <vt:lpstr>Office Theme</vt:lpstr>
      <vt:lpstr>  SOLAR POWERED IoT BASED ROBOT FOR RAILWAY TRACK INVESTIGATION WITH AI ASSISTANCE</vt:lpstr>
      <vt:lpstr> SOLAR POWERED IoT BASED ROBOT FOR RAILWAY TRACK INVESTIGATION WITH AI ASSISTANCE</vt:lpstr>
      <vt:lpstr>                   ABSTRACT</vt:lpstr>
      <vt:lpstr>                    OBJECTIVE</vt:lpstr>
      <vt:lpstr>           LITERATURE SURVEY </vt:lpstr>
      <vt:lpstr>PowerPoint Presentation</vt:lpstr>
      <vt:lpstr>        PROBLEM FORMULATION</vt:lpstr>
      <vt:lpstr>              EXISTING SYSTEM</vt:lpstr>
      <vt:lpstr>EXISTING SYSTEM LIMITATIONS</vt:lpstr>
      <vt:lpstr>PIN DIAGRAM</vt:lpstr>
      <vt:lpstr>             BLOCK DIAGRAM</vt:lpstr>
      <vt:lpstr>          PROPOSED SYSTEM</vt:lpstr>
      <vt:lpstr>CIRCUIT DIAGRAM</vt:lpstr>
      <vt:lpstr>         COMPONENTS USED</vt:lpstr>
      <vt:lpstr>PROPOSED SYSTEM WORKING </vt:lpstr>
      <vt:lpstr>PROPOSED SYSTEM WORKING</vt:lpstr>
      <vt:lpstr>        SYSTEM FLOWCHART</vt:lpstr>
      <vt:lpstr>             HARDWARE PROTOTYPE</vt:lpstr>
      <vt:lpstr>     RESULTS AND OUTPUT</vt:lpstr>
      <vt:lpstr>             ADVANTAGES</vt:lpstr>
      <vt:lpstr>      APPLICATIONS</vt:lpstr>
      <vt:lpstr>FUTURE SCOPE</vt:lpstr>
      <vt:lpstr>       CONCLUSION</vt:lpstr>
      <vt:lpstr>             REFERENCE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TITLE</dc:title>
  <dc:creator>91971</dc:creator>
  <cp:lastModifiedBy>sasisri Durai</cp:lastModifiedBy>
  <cp:revision>1</cp:revision>
  <dcterms:created xsi:type="dcterms:W3CDTF">2023-08-29T13:43:06Z</dcterms:created>
  <dcterms:modified xsi:type="dcterms:W3CDTF">2026-03-29T08:52:41Z</dcterms:modified>
</cp:coreProperties>
</file>